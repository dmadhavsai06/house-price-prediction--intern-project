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13"/>
  </p:notesMasterIdLst>
  <p:handoutMasterIdLst>
    <p:handoutMasterId r:id="rId14"/>
  </p:handoutMasterIdLst>
  <p:sldIdLst>
    <p:sldId id="394" r:id="rId2"/>
    <p:sldId id="398" r:id="rId3"/>
    <p:sldId id="399" r:id="rId4"/>
    <p:sldId id="406" r:id="rId5"/>
    <p:sldId id="400" r:id="rId6"/>
    <p:sldId id="401" r:id="rId7"/>
    <p:sldId id="403" r:id="rId8"/>
    <p:sldId id="402" r:id="rId9"/>
    <p:sldId id="404" r:id="rId10"/>
    <p:sldId id="405" r:id="rId11"/>
    <p:sldId id="397" r:id="rId12"/>
  </p:sldIdLst>
  <p:sldSz cx="12192000" cy="6858000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00"/>
    <a:srgbClr val="298610"/>
    <a:srgbClr val="00CC0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A4F5A3-1A00-EC18-966E-7B1C46119AC9}" v="625" dt="2026-06-26T07:58:59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82" autoAdjust="0"/>
    <p:restoredTop sz="94662" autoAdjust="0"/>
  </p:normalViewPr>
  <p:slideViewPr>
    <p:cSldViewPr>
      <p:cViewPr varScale="1">
        <p:scale>
          <a:sx n="52" d="100"/>
          <a:sy n="52" d="100"/>
        </p:scale>
        <p:origin x="-84" y="-12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6" d="100"/>
          <a:sy n="56" d="100"/>
        </p:scale>
        <p:origin x="-2886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av Sai" userId="fc512fb80494003b" providerId="Windows Live" clId="Web-{1FA4F5A3-1A00-EC18-966E-7B1C46119AC9}"/>
    <pc:docChg chg="modSld sldOrd">
      <pc:chgData name="Madhav Sai" userId="fc512fb80494003b" providerId="Windows Live" clId="Web-{1FA4F5A3-1A00-EC18-966E-7B1C46119AC9}" dt="2026-06-26T07:58:59.904" v="367" actId="1076"/>
      <pc:docMkLst>
        <pc:docMk/>
      </pc:docMkLst>
      <pc:sldChg chg="modSp">
        <pc:chgData name="Madhav Sai" userId="fc512fb80494003b" providerId="Windows Live" clId="Web-{1FA4F5A3-1A00-EC18-966E-7B1C46119AC9}" dt="2026-06-26T07:21:12.010" v="77" actId="1076"/>
        <pc:sldMkLst>
          <pc:docMk/>
          <pc:sldMk cId="0" sldId="394"/>
        </pc:sldMkLst>
        <pc:spChg chg="mod">
          <ac:chgData name="Madhav Sai" userId="fc512fb80494003b" providerId="Windows Live" clId="Web-{1FA4F5A3-1A00-EC18-966E-7B1C46119AC9}" dt="2026-06-26T07:21:12.010" v="77" actId="1076"/>
          <ac:spMkLst>
            <pc:docMk/>
            <pc:sldMk cId="0" sldId="394"/>
            <ac:spMk id="4" creationId="{DF2F89CD-76F8-CC7B-2459-103DB591695B}"/>
          </ac:spMkLst>
        </pc:spChg>
        <pc:spChg chg="mod">
          <ac:chgData name="Madhav Sai" userId="fc512fb80494003b" providerId="Windows Live" clId="Web-{1FA4F5A3-1A00-EC18-966E-7B1C46119AC9}" dt="2026-06-26T07:21:05.276" v="76" actId="1076"/>
          <ac:spMkLst>
            <pc:docMk/>
            <pc:sldMk cId="0" sldId="394"/>
            <ac:spMk id="14339" creationId="{DF07D155-43B7-B2FE-9B56-264CD5AC261C}"/>
          </ac:spMkLst>
        </pc:spChg>
      </pc:sldChg>
      <pc:sldChg chg="modSp">
        <pc:chgData name="Madhav Sai" userId="fc512fb80494003b" providerId="Windows Live" clId="Web-{1FA4F5A3-1A00-EC18-966E-7B1C46119AC9}" dt="2026-06-26T07:27:14.648" v="115" actId="1076"/>
        <pc:sldMkLst>
          <pc:docMk/>
          <pc:sldMk cId="0" sldId="398"/>
        </pc:sldMkLst>
        <pc:spChg chg="mod">
          <ac:chgData name="Madhav Sai" userId="fc512fb80494003b" providerId="Windows Live" clId="Web-{1FA4F5A3-1A00-EC18-966E-7B1C46119AC9}" dt="2026-06-26T07:27:14.648" v="115" actId="1076"/>
          <ac:spMkLst>
            <pc:docMk/>
            <pc:sldMk cId="0" sldId="398"/>
            <ac:spMk id="15366" creationId="{36FBE3E1-3552-A1EA-E6BC-7859B64CCBA8}"/>
          </ac:spMkLst>
        </pc:spChg>
      </pc:sldChg>
      <pc:sldChg chg="modSp">
        <pc:chgData name="Madhav Sai" userId="fc512fb80494003b" providerId="Windows Live" clId="Web-{1FA4F5A3-1A00-EC18-966E-7B1C46119AC9}" dt="2026-06-26T07:34:41.821" v="184" actId="1076"/>
        <pc:sldMkLst>
          <pc:docMk/>
          <pc:sldMk cId="0" sldId="399"/>
        </pc:sldMkLst>
        <pc:spChg chg="mod">
          <ac:chgData name="Madhav Sai" userId="fc512fb80494003b" providerId="Windows Live" clId="Web-{1FA4F5A3-1A00-EC18-966E-7B1C46119AC9}" dt="2026-06-26T07:34:33.821" v="183" actId="20577"/>
          <ac:spMkLst>
            <pc:docMk/>
            <pc:sldMk cId="0" sldId="399"/>
            <ac:spMk id="16388" creationId="{CAAA2088-18A9-0BAF-3CD7-B5D55590BF41}"/>
          </ac:spMkLst>
        </pc:spChg>
        <pc:spChg chg="mod">
          <ac:chgData name="Madhav Sai" userId="fc512fb80494003b" providerId="Windows Live" clId="Web-{1FA4F5A3-1A00-EC18-966E-7B1C46119AC9}" dt="2026-06-26T07:34:41.821" v="184" actId="1076"/>
          <ac:spMkLst>
            <pc:docMk/>
            <pc:sldMk cId="0" sldId="399"/>
            <ac:spMk id="16389" creationId="{B01ADB46-5FA3-2FAB-78C7-B6AD0016C9B0}"/>
          </ac:spMkLst>
        </pc:spChg>
      </pc:sldChg>
      <pc:sldChg chg="modSp">
        <pc:chgData name="Madhav Sai" userId="fc512fb80494003b" providerId="Windows Live" clId="Web-{1FA4F5A3-1A00-EC18-966E-7B1C46119AC9}" dt="2026-06-26T07:33:47.866" v="170" actId="1076"/>
        <pc:sldMkLst>
          <pc:docMk/>
          <pc:sldMk cId="0" sldId="400"/>
        </pc:sldMkLst>
        <pc:spChg chg="mod">
          <ac:chgData name="Madhav Sai" userId="fc512fb80494003b" providerId="Windows Live" clId="Web-{1FA4F5A3-1A00-EC18-966E-7B1C46119AC9}" dt="2026-06-26T07:33:47.866" v="170" actId="1076"/>
          <ac:spMkLst>
            <pc:docMk/>
            <pc:sldMk cId="0" sldId="400"/>
            <ac:spMk id="18436" creationId="{87DCBBF9-CF34-BFE4-F737-A70180841E13}"/>
          </ac:spMkLst>
        </pc:spChg>
        <pc:spChg chg="mod">
          <ac:chgData name="Madhav Sai" userId="fc512fb80494003b" providerId="Windows Live" clId="Web-{1FA4F5A3-1A00-EC18-966E-7B1C46119AC9}" dt="2026-06-26T07:33:39.537" v="169" actId="1076"/>
          <ac:spMkLst>
            <pc:docMk/>
            <pc:sldMk cId="0" sldId="400"/>
            <ac:spMk id="18437" creationId="{BC5535AE-1A8D-0295-47F5-8F39B2234E36}"/>
          </ac:spMkLst>
        </pc:spChg>
      </pc:sldChg>
      <pc:sldChg chg="modSp">
        <pc:chgData name="Madhav Sai" userId="fc512fb80494003b" providerId="Windows Live" clId="Web-{1FA4F5A3-1A00-EC18-966E-7B1C46119AC9}" dt="2026-06-26T07:39:42.066" v="198" actId="20577"/>
        <pc:sldMkLst>
          <pc:docMk/>
          <pc:sldMk cId="0" sldId="401"/>
        </pc:sldMkLst>
        <pc:spChg chg="mod">
          <ac:chgData name="Madhav Sai" userId="fc512fb80494003b" providerId="Windows Live" clId="Web-{1FA4F5A3-1A00-EC18-966E-7B1C46119AC9}" dt="2026-06-26T07:39:42.066" v="198" actId="20577"/>
          <ac:spMkLst>
            <pc:docMk/>
            <pc:sldMk cId="0" sldId="401"/>
            <ac:spMk id="19460" creationId="{5FBBB612-1B84-8F6C-12D3-AECD9E8A9B47}"/>
          </ac:spMkLst>
        </pc:spChg>
      </pc:sldChg>
      <pc:sldChg chg="modSp">
        <pc:chgData name="Madhav Sai" userId="fc512fb80494003b" providerId="Windows Live" clId="Web-{1FA4F5A3-1A00-EC18-966E-7B1C46119AC9}" dt="2026-06-26T07:47:15.113" v="262" actId="20577"/>
        <pc:sldMkLst>
          <pc:docMk/>
          <pc:sldMk cId="0" sldId="402"/>
        </pc:sldMkLst>
        <pc:spChg chg="mod">
          <ac:chgData name="Madhav Sai" userId="fc512fb80494003b" providerId="Windows Live" clId="Web-{1FA4F5A3-1A00-EC18-966E-7B1C46119AC9}" dt="2026-06-26T07:47:15.113" v="262" actId="20577"/>
          <ac:spMkLst>
            <pc:docMk/>
            <pc:sldMk cId="0" sldId="402"/>
            <ac:spMk id="20484" creationId="{DFDCF18B-5549-637A-FE6A-62DD0BD7B561}"/>
          </ac:spMkLst>
        </pc:spChg>
        <pc:spChg chg="mod">
          <ac:chgData name="Madhav Sai" userId="fc512fb80494003b" providerId="Windows Live" clId="Web-{1FA4F5A3-1A00-EC18-966E-7B1C46119AC9}" dt="2026-06-26T07:45:51.517" v="254" actId="1076"/>
          <ac:spMkLst>
            <pc:docMk/>
            <pc:sldMk cId="0" sldId="402"/>
            <ac:spMk id="20485" creationId="{98607602-2C15-2F52-CD27-B0E56B44854A}"/>
          </ac:spMkLst>
        </pc:spChg>
        <pc:spChg chg="mod">
          <ac:chgData name="Madhav Sai" userId="fc512fb80494003b" providerId="Windows Live" clId="Web-{1FA4F5A3-1A00-EC18-966E-7B1C46119AC9}" dt="2026-06-26T07:46:16.158" v="259" actId="1076"/>
          <ac:spMkLst>
            <pc:docMk/>
            <pc:sldMk cId="0" sldId="402"/>
            <ac:spMk id="20486" creationId="{66AD141D-CB14-FE1E-B20A-82321FB8A706}"/>
          </ac:spMkLst>
        </pc:spChg>
        <pc:spChg chg="mod">
          <ac:chgData name="Madhav Sai" userId="fc512fb80494003b" providerId="Windows Live" clId="Web-{1FA4F5A3-1A00-EC18-966E-7B1C46119AC9}" dt="2026-06-26T07:46:02.627" v="256" actId="1076"/>
          <ac:spMkLst>
            <pc:docMk/>
            <pc:sldMk cId="0" sldId="402"/>
            <ac:spMk id="20487" creationId="{DDADDC17-4C8B-3DDA-9313-0B17C92C5BAA}"/>
          </ac:spMkLst>
        </pc:spChg>
      </pc:sldChg>
      <pc:sldChg chg="modSp ord">
        <pc:chgData name="Madhav Sai" userId="fc512fb80494003b" providerId="Windows Live" clId="Web-{1FA4F5A3-1A00-EC18-966E-7B1C46119AC9}" dt="2026-06-26T07:50:19.745" v="276"/>
        <pc:sldMkLst>
          <pc:docMk/>
          <pc:sldMk cId="0" sldId="403"/>
        </pc:sldMkLst>
        <pc:spChg chg="mod">
          <ac:chgData name="Madhav Sai" userId="fc512fb80494003b" providerId="Windows Live" clId="Web-{1FA4F5A3-1A00-EC18-966E-7B1C46119AC9}" dt="2026-06-26T07:48:43.835" v="268" actId="1076"/>
          <ac:spMkLst>
            <pc:docMk/>
            <pc:sldMk cId="0" sldId="403"/>
            <ac:spMk id="21508" creationId="{BC765E81-C1FF-771E-1222-D20FDD984031}"/>
          </ac:spMkLst>
        </pc:spChg>
        <pc:spChg chg="mod">
          <ac:chgData name="Madhav Sai" userId="fc512fb80494003b" providerId="Windows Live" clId="Web-{1FA4F5A3-1A00-EC18-966E-7B1C46119AC9}" dt="2026-06-26T07:49:08.336" v="275" actId="1076"/>
          <ac:spMkLst>
            <pc:docMk/>
            <pc:sldMk cId="0" sldId="403"/>
            <ac:spMk id="21509" creationId="{29F3031D-DF6B-3A32-8DAA-796E09D870CF}"/>
          </ac:spMkLst>
        </pc:spChg>
      </pc:sldChg>
      <pc:sldChg chg="modSp">
        <pc:chgData name="Madhav Sai" userId="fc512fb80494003b" providerId="Windows Live" clId="Web-{1FA4F5A3-1A00-EC18-966E-7B1C46119AC9}" dt="2026-06-26T07:56:43.009" v="340" actId="20577"/>
        <pc:sldMkLst>
          <pc:docMk/>
          <pc:sldMk cId="0" sldId="404"/>
        </pc:sldMkLst>
        <pc:spChg chg="mod">
          <ac:chgData name="Madhav Sai" userId="fc512fb80494003b" providerId="Windows Live" clId="Web-{1FA4F5A3-1A00-EC18-966E-7B1C46119AC9}" dt="2026-06-26T07:56:43.009" v="340" actId="20577"/>
          <ac:spMkLst>
            <pc:docMk/>
            <pc:sldMk cId="0" sldId="404"/>
            <ac:spMk id="22532" creationId="{2E58CAD8-8920-5BEF-651E-07F016E7EF92}"/>
          </ac:spMkLst>
        </pc:spChg>
        <pc:spChg chg="mod">
          <ac:chgData name="Madhav Sai" userId="fc512fb80494003b" providerId="Windows Live" clId="Web-{1FA4F5A3-1A00-EC18-966E-7B1C46119AC9}" dt="2026-06-26T07:55:33.397" v="298" actId="1076"/>
          <ac:spMkLst>
            <pc:docMk/>
            <pc:sldMk cId="0" sldId="404"/>
            <ac:spMk id="22533" creationId="{DD02CBC5-556C-F815-9ECC-DA11C3E733F6}"/>
          </ac:spMkLst>
        </pc:spChg>
      </pc:sldChg>
      <pc:sldChg chg="modSp">
        <pc:chgData name="Madhav Sai" userId="fc512fb80494003b" providerId="Windows Live" clId="Web-{1FA4F5A3-1A00-EC18-966E-7B1C46119AC9}" dt="2026-06-26T07:58:59.904" v="367" actId="1076"/>
        <pc:sldMkLst>
          <pc:docMk/>
          <pc:sldMk cId="0" sldId="405"/>
        </pc:sldMkLst>
        <pc:spChg chg="mod">
          <ac:chgData name="Madhav Sai" userId="fc512fb80494003b" providerId="Windows Live" clId="Web-{1FA4F5A3-1A00-EC18-966E-7B1C46119AC9}" dt="2026-06-26T07:58:59.904" v="367" actId="1076"/>
          <ac:spMkLst>
            <pc:docMk/>
            <pc:sldMk cId="0" sldId="405"/>
            <ac:spMk id="23556" creationId="{C7D8D6E7-8011-D2B9-F3C3-31401D7386C6}"/>
          </ac:spMkLst>
        </pc:spChg>
      </pc:sldChg>
      <pc:sldChg chg="modSp">
        <pc:chgData name="Madhav Sai" userId="fc512fb80494003b" providerId="Windows Live" clId="Web-{1FA4F5A3-1A00-EC18-966E-7B1C46119AC9}" dt="2026-06-26T07:29:57.654" v="124" actId="1076"/>
        <pc:sldMkLst>
          <pc:docMk/>
          <pc:sldMk cId="0" sldId="406"/>
        </pc:sldMkLst>
        <pc:spChg chg="mod">
          <ac:chgData name="Madhav Sai" userId="fc512fb80494003b" providerId="Windows Live" clId="Web-{1FA4F5A3-1A00-EC18-966E-7B1C46119AC9}" dt="2026-06-26T07:29:57.654" v="124" actId="1076"/>
          <ac:spMkLst>
            <pc:docMk/>
            <pc:sldMk cId="0" sldId="406"/>
            <ac:spMk id="17412" creationId="{A6568371-E910-FF4D-BD26-8E402B112C6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80D930-C077-E4B0-D300-5CE5FD71F9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15052A-48B1-DADF-7CFD-E1EFBBF345D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9E2934C-150F-434F-88ED-026700A7A377}" type="datetimeFigureOut">
              <a:rPr lang="en-US"/>
              <a:pPr>
                <a:defRPr/>
              </a:pPr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74A02F-E8E1-DA83-9E53-5A70137FB43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36FE2-85F1-2960-9CA1-43271B0A0DB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859C9F3-8829-4C87-87F0-20D7BB1B4F3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ACD8CB-86C6-A245-C629-1FC2E1FD44D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9B1DDC-FE17-5158-8970-86C1496E690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C5E3DC1D-D7C2-4FE4-9BFD-A6507EECA8C0}" type="datetimeFigureOut">
              <a:rPr lang="en-US"/>
              <a:pPr>
                <a:defRPr/>
              </a:pPr>
              <a:t>6/26/2026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9187EC8-9FD9-62B7-948A-BC1EBD70B9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B51D9CAC-3A93-A480-752F-22BD0EA631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695EA-6CCD-CBCE-BC54-F4875E4074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27DE6-C284-4536-88F3-D0B27FE72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1C06E06D-7380-4F25-AAA9-1367C327010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5D06DAE3-2E81-ABDB-BA2C-6D03C1D11FB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E4CD4940-B6C4-7E81-67B5-2604D7C4F59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D624C358-F288-28D4-7FD9-65715B4DB9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75B9089-3055-4467-B460-511C3721F53B}" type="slidenum">
              <a:rPr lang="en-US" altLang="en-US"/>
              <a:pPr/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>
            <a:extLst>
              <a:ext uri="{FF2B5EF4-FFF2-40B4-BE49-F238E27FC236}">
                <a16:creationId xmlns:a16="http://schemas.microsoft.com/office/drawing/2014/main" id="{1733C61E-4142-B70F-93F9-7DDBC7C9CE1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>
            <a:extLst>
              <a:ext uri="{FF2B5EF4-FFF2-40B4-BE49-F238E27FC236}">
                <a16:creationId xmlns:a16="http://schemas.microsoft.com/office/drawing/2014/main" id="{FFB3284A-186E-BCD0-F533-27CC9B4EFA3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8956A692-3805-6C7D-07EC-1714973E2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1E10927-E13F-4FEB-9D3E-30923A21123F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B555C81E-F339-8947-4D6E-47EBF44654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E4497EEE-1A60-9078-9F07-B1DAA221BD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BD9539CF-F718-3470-C6AB-B6547F3518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16B3506-284E-4543-8DA6-66343DEDB467}" type="slidenum">
              <a:rPr lang="en-US" altLang="en-US"/>
              <a:pPr/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DC62944-855D-4E87-04B2-B0A8B180610B}"/>
              </a:ext>
            </a:extLst>
          </p:cNvPr>
          <p:cNvSpPr txBox="1">
            <a:spLocks/>
          </p:cNvSpPr>
          <p:nvPr/>
        </p:nvSpPr>
        <p:spPr>
          <a:xfrm>
            <a:off x="1371600" y="304800"/>
            <a:ext cx="9601200" cy="642938"/>
          </a:xfrm>
          <a:prstGeom prst="rect">
            <a:avLst/>
          </a:prstGeom>
        </p:spPr>
        <p:txBody>
          <a:bodyPr anchor="b"/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lang="en-IN" sz="3600" dirty="0">
              <a:solidFill>
                <a:srgbClr val="002060"/>
              </a:solidFill>
              <a:latin typeface="Britannic Bold" panose="020B09030607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B22073-74C5-8987-AB27-2463D49E8DFE}"/>
              </a:ext>
            </a:extLst>
          </p:cNvPr>
          <p:cNvSpPr txBox="1">
            <a:spLocks/>
          </p:cNvSpPr>
          <p:nvPr userDrawn="1"/>
        </p:nvSpPr>
        <p:spPr>
          <a:xfrm>
            <a:off x="1066800" y="304800"/>
            <a:ext cx="10072688" cy="642938"/>
          </a:xfrm>
          <a:prstGeom prst="rect">
            <a:avLst/>
          </a:prstGeom>
        </p:spPr>
        <p:txBody>
          <a:bodyPr anchor="b"/>
          <a:lstStyle>
            <a:lvl1pPr algn="ct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5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endParaRPr lang="en-IN" sz="4000" dirty="0">
              <a:solidFill>
                <a:srgbClr val="002060"/>
              </a:solidFill>
              <a:latin typeface="Britannic Bold" panose="020B0903060703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8">
            <a:extLst>
              <a:ext uri="{FF2B5EF4-FFF2-40B4-BE49-F238E27FC236}">
                <a16:creationId xmlns:a16="http://schemas.microsoft.com/office/drawing/2014/main" id="{A3C524D2-BD45-3F7D-B71A-DA51C174A7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6988" y="592138"/>
            <a:ext cx="7610475" cy="1008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0822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DFD2D84F-E2C3-EF5C-24A3-5035EB522802}"/>
              </a:ext>
            </a:extLst>
          </p:cNvPr>
          <p:cNvSpPr txBox="1">
            <a:spLocks/>
          </p:cNvSpPr>
          <p:nvPr userDrawn="1"/>
        </p:nvSpPr>
        <p:spPr>
          <a:xfrm>
            <a:off x="738188" y="6278563"/>
            <a:ext cx="1928812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ctr" defTabSz="457200" rtl="0" eaLnBrk="1" latinLnBrk="0" hangingPunct="1">
              <a:defRPr sz="1200" b="1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  <a:p>
            <a:pPr algn="just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87D71186-C4C0-E957-289D-3AE3654533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"/>
            <a:ext cx="21717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351BC5C5-7EC3-5AC0-1FB6-C9EC5B80CDA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567238" y="6276975"/>
            <a:ext cx="2743200" cy="365125"/>
          </a:xfrm>
        </p:spPr>
        <p:txBody>
          <a:bodyPr/>
          <a:lstStyle>
            <a:lvl1pPr>
              <a:defRPr sz="1100"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310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A0326753-6A87-8682-BBBD-EA9F48A9D9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"/>
            <a:ext cx="21717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03C7FF-68C8-DD43-AF77-40E8449066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3C086F-E06B-694E-72CE-4C4CBC62E9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BCE53BA-A59A-4C84-9BD0-698713FB247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0485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436ADB38-5B7A-4BCF-BDD3-15C389E2C2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"/>
            <a:ext cx="21717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E8858-06C0-688B-94FC-98AF87D4586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9635AE-6584-5837-A623-DA7D7A289C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970A19E-4E7C-419A-A23D-64DD5819114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7589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A32B8-46C1-880E-CD88-AD07961AAE7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D7328-20C4-29EF-5C39-D415032A984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E18DD7F-0201-43F6-A1F4-AA3C6C04904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6803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6F6E1A3-2EE0-1846-6951-10E9F619ED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AAF315A-044E-9A18-B7B3-57F0A87C8A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53DDD5B-F0C1-4415-9361-8DF1C0D2EDB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440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5091D04B-B6BB-BB0D-9F75-B8F7143CD4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"/>
            <a:ext cx="21717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656229-CB48-9999-D2D7-9303A4457DF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F35646-7CCB-E088-F28B-B82A11044B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4657C2B-ABDB-4B8F-B743-51277A6D5FC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477482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C8340AEA-52CC-D550-F05C-22CF6EBF80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"/>
            <a:ext cx="21717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8E7DBB-9E6A-8177-D085-CBFE780897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E5F13C-3B9E-2784-D5D5-4569735192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4EA3AD-96AE-4F17-AA00-758BDF0C13E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9620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>
            <a:extLst>
              <a:ext uri="{FF2B5EF4-FFF2-40B4-BE49-F238E27FC236}">
                <a16:creationId xmlns:a16="http://schemas.microsoft.com/office/drawing/2014/main" id="{49E55ADD-6F7B-E051-4ED1-8AE96B2B45C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"/>
            <a:ext cx="21717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64A665-E0D1-6E31-581F-AA81DD3714A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08ED8C-2BC5-E505-F82E-36DC442C958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DD36878-E569-4B97-A3D4-F4A0C16A4A6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4053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6">
            <a:extLst>
              <a:ext uri="{FF2B5EF4-FFF2-40B4-BE49-F238E27FC236}">
                <a16:creationId xmlns:a16="http://schemas.microsoft.com/office/drawing/2014/main" id="{763C39B2-7BF4-7C0C-FA87-594CACD630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"/>
            <a:ext cx="21717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111FB6-C906-921D-85F7-9BE07018A3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3ED029-60D3-BFFD-5F6A-AF1174CA51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F0AA1F62-5FD6-4F38-8EAC-D742E2E0013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34284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050A2B7C-F71D-0BB1-24C5-73ED55081D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"/>
            <a:ext cx="21717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39764A-B412-12CF-5DF4-803ECB1E443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33E95-8766-C8EF-7C9C-E5158759C39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78732855-C409-4FB6-AF5E-E14E1724827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4735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FB327E77-894C-CD49-9E10-61FFEC324E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"/>
            <a:ext cx="21717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E8F24-1B9E-AD06-55C9-ADCD2B374F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B3DA4-D361-C095-B254-DAD0C7DE68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4C85255D-DF0A-4B1E-B4B6-08DA4F27C53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5754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CD49DB87-56E4-9652-9FDD-7E4F6F6372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"/>
            <a:ext cx="21717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9085" y="1561876"/>
            <a:ext cx="10515600" cy="4531419"/>
          </a:xfrm>
        </p:spPr>
        <p:txBody>
          <a:bodyPr/>
          <a:lstStyle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2FB72-D543-AF9C-FC9C-774A05AF105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138613" y="6286500"/>
            <a:ext cx="2743200" cy="365125"/>
          </a:xfrm>
        </p:spPr>
        <p:txBody>
          <a:bodyPr/>
          <a:lstStyle>
            <a:lvl1pPr>
              <a:defRPr b="1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35484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>
            <a:extLst>
              <a:ext uri="{FF2B5EF4-FFF2-40B4-BE49-F238E27FC236}">
                <a16:creationId xmlns:a16="http://schemas.microsoft.com/office/drawing/2014/main" id="{93F8A8E4-0F3D-9EA7-2825-397D67C338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38100"/>
            <a:ext cx="21717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2B5C5C-D51A-7456-9477-6DA6367103D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4B313-B7CE-ED8F-76F6-3D91AEFFF2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8B565C4D-F7AE-4D04-A03B-942047C28DB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8850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E91059E3-0D4B-06C9-22E6-EADC2A015E4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CAECA244-2E51-02BB-C3AF-955E6F5EE8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88AD9-CDBE-69AF-5308-6429941491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3E596-4D9B-7FBA-D8DB-D1D150F55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34850BBB-1650-4BA0-AF9C-7909A46545B8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76" r:id="rId1"/>
    <p:sldLayoutId id="2147484077" r:id="rId2"/>
    <p:sldLayoutId id="2147484078" r:id="rId3"/>
    <p:sldLayoutId id="2147484079" r:id="rId4"/>
    <p:sldLayoutId id="2147484074" r:id="rId5"/>
    <p:sldLayoutId id="2147484075" r:id="rId6"/>
    <p:sldLayoutId id="2147484080" r:id="rId7"/>
    <p:sldLayoutId id="2147484081" r:id="rId8"/>
    <p:sldLayoutId id="2147484082" r:id="rId9"/>
    <p:sldLayoutId id="2147484083" r:id="rId10"/>
    <p:sldLayoutId id="2147484084" r:id="rId11"/>
    <p:sldLayoutId id="2147484085" r:id="rId12"/>
    <p:sldLayoutId id="2147484086" r:id="rId13"/>
    <p:sldLayoutId id="2147484087" r:id="rId14"/>
  </p:sldLayoutIdLst>
  <p:hf hd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F2F89CD-76F8-CC7B-2459-103DB591695B}"/>
              </a:ext>
            </a:extLst>
          </p:cNvPr>
          <p:cNvSpPr txBox="1">
            <a:spLocks/>
          </p:cNvSpPr>
          <p:nvPr/>
        </p:nvSpPr>
        <p:spPr>
          <a:xfrm>
            <a:off x="750434" y="2213429"/>
            <a:ext cx="10696575" cy="2428875"/>
          </a:xfrm>
          <a:prstGeom prst="rect">
            <a:avLst/>
          </a:prstGeom>
        </p:spPr>
        <p:txBody>
          <a:bodyPr anchor="b"/>
          <a:lstStyle/>
          <a:p>
            <a:pPr marL="514350" indent="-514350" algn="ctr" defTabSz="914400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endParaRPr lang="en-US" sz="4400" b="1" dirty="0">
              <a:latin typeface="Agency FB" pitchFamily="34" charset="0"/>
              <a:cs typeface="Times New Roman" pitchFamily="18" charset="0"/>
            </a:endParaRPr>
          </a:p>
          <a:p>
            <a:pPr marL="514350" indent="-514350" algn="ctr" defTabSz="914400" eaLnBrk="1" fontAlgn="auto" hangingPunct="1">
              <a:lnSpc>
                <a:spcPct val="150000"/>
              </a:lnSpc>
              <a:spcAft>
                <a:spcPts val="0"/>
              </a:spcAft>
              <a:defRPr/>
            </a:pPr>
            <a:r>
              <a:rPr lang="en-US" sz="5400" b="1" dirty="0">
                <a:solidFill>
                  <a:srgbClr val="0070C0"/>
                </a:solidFill>
                <a:latin typeface="Maiandra GD" panose="020E0502030308020204" pitchFamily="34" charset="0"/>
                <a:cs typeface="Times New Roman" pitchFamily="18" charset="0"/>
              </a:rPr>
              <a:t>House Price Prediction  </a:t>
            </a:r>
            <a:br>
              <a:rPr lang="en-US" sz="4400" b="1" dirty="0">
                <a:solidFill>
                  <a:srgbClr val="FF0000"/>
                </a:solidFill>
                <a:latin typeface="Maiandra GD" panose="020E0502030308020204" pitchFamily="34" charset="0"/>
                <a:ea typeface="+mj-ea"/>
                <a:cs typeface="+mj-cs"/>
              </a:rPr>
            </a:br>
            <a:endParaRPr lang="en-IN" sz="4400" b="1" dirty="0">
              <a:latin typeface="Maiandra GD" panose="020E0502030308020204" pitchFamily="34" charset="0"/>
              <a:ea typeface="+mj-ea"/>
              <a:cs typeface="+mj-cs"/>
            </a:endParaRPr>
          </a:p>
        </p:txBody>
      </p:sp>
      <p:sp>
        <p:nvSpPr>
          <p:cNvPr id="14339" name="TextBox 4">
            <a:extLst>
              <a:ext uri="{FF2B5EF4-FFF2-40B4-BE49-F238E27FC236}">
                <a16:creationId xmlns:a16="http://schemas.microsoft.com/office/drawing/2014/main" id="{DF07D155-43B7-B2FE-9B56-264CD5AC2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0714" y="4412343"/>
            <a:ext cx="43434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 b="1" dirty="0">
                <a:latin typeface="Calibri"/>
                <a:ea typeface="Calibri"/>
                <a:cs typeface="Calibri"/>
              </a:rPr>
              <a:t>Presented by :  </a:t>
            </a:r>
            <a:r>
              <a:rPr lang="en-US" altLang="en-US" sz="2400" b="1" dirty="0" err="1">
                <a:latin typeface="Calibri"/>
                <a:ea typeface="Calibri"/>
                <a:cs typeface="Calibri"/>
              </a:rPr>
              <a:t>Madhavsai</a:t>
            </a:r>
            <a:r>
              <a:rPr lang="en-US" altLang="en-US" sz="2400" b="1" dirty="0">
                <a:latin typeface="Calibri"/>
                <a:ea typeface="Calibri"/>
                <a:cs typeface="Calibri"/>
              </a:rPr>
              <a:t> . D</a:t>
            </a:r>
          </a:p>
          <a:p>
            <a:r>
              <a:rPr lang="en-US" altLang="en-US" sz="2400" b="1">
                <a:latin typeface="Calibri"/>
                <a:ea typeface="Calibri"/>
                <a:cs typeface="Calibri"/>
              </a:rPr>
              <a:t>Roll number   :  24B11DS050</a:t>
            </a:r>
          </a:p>
          <a:p>
            <a:r>
              <a:rPr lang="en-US" altLang="en-US" sz="2400" b="1" dirty="0">
                <a:latin typeface="Calibri"/>
                <a:ea typeface="Calibri"/>
                <a:cs typeface="Calibri"/>
              </a:rPr>
              <a:t>Department   :  Data </a:t>
            </a:r>
            <a:r>
              <a:rPr lang="en-US" altLang="en-US" sz="2400" b="1" dirty="0" err="1">
                <a:latin typeface="Calibri"/>
                <a:ea typeface="Calibri"/>
                <a:cs typeface="Calibri"/>
              </a:rPr>
              <a:t>Scien</a:t>
            </a:r>
            <a:r>
              <a:rPr lang="en-US" altLang="en-US" sz="2400" b="1" dirty="0">
                <a:latin typeface="Calibri"/>
                <a:ea typeface="Calibri"/>
                <a:cs typeface="Calibri"/>
              </a:rPr>
              <a:t>ce</a:t>
            </a:r>
            <a:endParaRPr lang="en-US" altLang="en-US" sz="2400" b="1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>
            <a:extLst>
              <a:ext uri="{FF2B5EF4-FFF2-40B4-BE49-F238E27FC236}">
                <a16:creationId xmlns:a16="http://schemas.microsoft.com/office/drawing/2014/main" id="{B2AF4244-0D38-29F9-EE95-7107B39217E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 bwMode="auto">
          <a:xfrm>
            <a:off x="523875" y="6356350"/>
            <a:ext cx="8308975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defTabSz="91440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</a:pPr>
            <a:r>
              <a:rPr lang="en-US" altLang="en-US">
                <a:latin typeface="Maiandra GD" panose="020E0502030308020204" pitchFamily="34" charset="0"/>
              </a:rPr>
              <a:t>INTERNSHIP PROJECT NAME      </a:t>
            </a:r>
            <a:endParaRPr lang="en-IN" altLang="en-US">
              <a:latin typeface="Maiandra GD" panose="020E0502030308020204" pitchFamily="34" charset="0"/>
            </a:endParaRPr>
          </a:p>
        </p:txBody>
      </p:sp>
      <p:sp>
        <p:nvSpPr>
          <p:cNvPr id="15363" name="Title 1">
            <a:extLst>
              <a:ext uri="{FF2B5EF4-FFF2-40B4-BE49-F238E27FC236}">
                <a16:creationId xmlns:a16="http://schemas.microsoft.com/office/drawing/2014/main" id="{7483D976-97F1-5736-A88B-895522FE4C68}"/>
              </a:ext>
            </a:extLst>
          </p:cNvPr>
          <p:cNvSpPr txBox="1">
            <a:spLocks/>
          </p:cNvSpPr>
          <p:nvPr/>
        </p:nvSpPr>
        <p:spPr bwMode="auto">
          <a:xfrm>
            <a:off x="838200" y="839788"/>
            <a:ext cx="11049000" cy="74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IN" altLang="en-US" sz="3600" b="1">
                <a:solidFill>
                  <a:srgbClr val="00B0F0"/>
                </a:solidFill>
                <a:latin typeface="Maiandra GD" panose="020E0502030308020204" pitchFamily="34" charset="0"/>
              </a:rPr>
              <a:t>TITLE</a:t>
            </a:r>
          </a:p>
          <a:p>
            <a:pPr algn="just" eaLnBrk="1" hangingPunct="1">
              <a:lnSpc>
                <a:spcPct val="150000"/>
              </a:lnSpc>
              <a:buFont typeface="Arial" panose="020B0604020202020204" pitchFamily="34" charset="0"/>
              <a:buNone/>
            </a:pPr>
            <a:br>
              <a:rPr lang="en-US" altLang="en-US" sz="3600" b="1">
                <a:solidFill>
                  <a:srgbClr val="00B0F0"/>
                </a:solidFill>
                <a:latin typeface="Maiandra GD" panose="020E0502030308020204" pitchFamily="34" charset="0"/>
              </a:rPr>
            </a:br>
            <a:endParaRPr lang="en-IN" altLang="en-US" sz="3600" b="1">
              <a:solidFill>
                <a:srgbClr val="00B0F0"/>
              </a:solidFill>
              <a:latin typeface="Maiandra GD" panose="020E0502030308020204" pitchFamily="34" charset="0"/>
            </a:endParaRPr>
          </a:p>
        </p:txBody>
      </p:sp>
      <p:sp>
        <p:nvSpPr>
          <p:cNvPr id="15364" name="Slide Number Placeholder 1">
            <a:extLst>
              <a:ext uri="{FF2B5EF4-FFF2-40B4-BE49-F238E27FC236}">
                <a16:creationId xmlns:a16="http://schemas.microsoft.com/office/drawing/2014/main" id="{BAA1E036-4C0F-9667-6E3B-46B880DEC7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2EC92D7-3F2A-4581-A325-0FCA2F577EBA}" type="slidenum">
              <a:rPr lang="en-US" altLang="en-US">
                <a:solidFill>
                  <a:srgbClr val="898989"/>
                </a:solidFill>
              </a:rPr>
              <a:pPr/>
              <a:t>2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5365" name="Rectangle 4">
            <a:extLst>
              <a:ext uri="{FF2B5EF4-FFF2-40B4-BE49-F238E27FC236}">
                <a16:creationId xmlns:a16="http://schemas.microsoft.com/office/drawing/2014/main" id="{936F6E3C-EDE4-665D-4440-6457BEDD9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" y="2741613"/>
            <a:ext cx="11179175" cy="1308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50000"/>
              </a:lnSpc>
            </a:pPr>
            <a: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en-US" sz="2800" b="1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6" name="TextBox 5">
            <a:extLst>
              <a:ext uri="{FF2B5EF4-FFF2-40B4-BE49-F238E27FC236}">
                <a16:creationId xmlns:a16="http://schemas.microsoft.com/office/drawing/2014/main" id="{36FBE3E1-3552-A1EA-E6BC-7859B64CCB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43628" y="2169886"/>
            <a:ext cx="9829800" cy="3754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44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HOUSE  PRICE  PREDICTION USING  MACHINE LEARNING</a:t>
            </a:r>
          </a:p>
          <a:p>
            <a:r>
              <a:rPr lang="en-US" altLang="en-US" sz="44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           </a:t>
            </a:r>
          </a:p>
          <a:p>
            <a:endParaRPr lang="en-US" altLang="en-US" sz="4400" b="1"/>
          </a:p>
          <a:p>
            <a:endParaRPr lang="en-US" altLang="en-US" sz="4400" b="1"/>
          </a:p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E8ADD9-8843-EFEA-904C-1489EC201C8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16387" name="Slide Number Placeholder 2">
            <a:extLst>
              <a:ext uri="{FF2B5EF4-FFF2-40B4-BE49-F238E27FC236}">
                <a16:creationId xmlns:a16="http://schemas.microsoft.com/office/drawing/2014/main" id="{9994015A-9F78-4943-88FB-006E7EC99E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7F4ACB86-0D7D-4D15-84BC-6E73D014F2A2}" type="slidenum">
              <a:rPr lang="en-US" altLang="en-US">
                <a:solidFill>
                  <a:srgbClr val="898989"/>
                </a:solidFill>
              </a:rPr>
              <a:pPr/>
              <a:t>3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6388" name="TextBox 6">
            <a:extLst>
              <a:ext uri="{FF2B5EF4-FFF2-40B4-BE49-F238E27FC236}">
                <a16:creationId xmlns:a16="http://schemas.microsoft.com/office/drawing/2014/main" id="{CAAA2088-18A9-0BAF-3CD7-B5D55590BF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371600"/>
            <a:ext cx="8534400" cy="5016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200">
                <a:latin typeface="Calibri"/>
                <a:ea typeface="Calibri"/>
                <a:cs typeface="Calibri"/>
              </a:rPr>
              <a:t>1.</a:t>
            </a:r>
            <a:r>
              <a:rPr lang="en-US" sz="3200">
                <a:latin typeface="Calibri"/>
                <a:ea typeface="Calibri"/>
                <a:cs typeface="Calibri"/>
              </a:rPr>
              <a:t>Problem Statement</a:t>
            </a:r>
            <a:endParaRPr lang="en-US" altLang="en-US" sz="3200">
              <a:latin typeface="Calibri"/>
              <a:ea typeface="Calibri"/>
              <a:cs typeface="Calibri"/>
            </a:endParaRPr>
          </a:p>
          <a:p>
            <a:r>
              <a:rPr lang="en-US" altLang="en-US" sz="3200">
                <a:latin typeface="Calibri"/>
                <a:ea typeface="Calibri"/>
                <a:cs typeface="Calibri"/>
              </a:rPr>
              <a:t>2.Project objective</a:t>
            </a:r>
            <a:endParaRPr lang="en-US" altLang="en-US" sz="3200">
              <a:ea typeface="Calibri"/>
              <a:cs typeface="Calibri"/>
            </a:endParaRPr>
          </a:p>
          <a:p>
            <a:r>
              <a:rPr lang="en-US" altLang="en-US" sz="3200"/>
              <a:t>3.Dataset Description </a:t>
            </a:r>
          </a:p>
          <a:p>
            <a:r>
              <a:rPr lang="en-US" altLang="en-US" sz="3200"/>
              <a:t>4.Methodology </a:t>
            </a:r>
          </a:p>
          <a:p>
            <a:r>
              <a:rPr lang="en-US" altLang="en-US" sz="3200"/>
              <a:t>5.Data Preprocessing </a:t>
            </a:r>
          </a:p>
          <a:p>
            <a:r>
              <a:rPr lang="en-US" altLang="en-US" sz="3200"/>
              <a:t>6.Data Visualization</a:t>
            </a:r>
          </a:p>
          <a:p>
            <a:r>
              <a:rPr lang="en-US" altLang="en-US" sz="3200"/>
              <a:t>7.Model Implementation</a:t>
            </a:r>
          </a:p>
          <a:p>
            <a:r>
              <a:rPr lang="en-US" altLang="en-US" sz="3200"/>
              <a:t>8.Results and Outcomes</a:t>
            </a:r>
          </a:p>
          <a:p>
            <a:r>
              <a:rPr lang="en-US" altLang="en-US" sz="3200"/>
              <a:t>9.Applications</a:t>
            </a:r>
          </a:p>
          <a:p>
            <a:r>
              <a:rPr lang="en-US" altLang="en-US" sz="3200"/>
              <a:t>10.Conclusion and Future Scope</a:t>
            </a:r>
          </a:p>
        </p:txBody>
      </p:sp>
      <p:sp>
        <p:nvSpPr>
          <p:cNvPr id="16389" name="TextBox 7">
            <a:extLst>
              <a:ext uri="{FF2B5EF4-FFF2-40B4-BE49-F238E27FC236}">
                <a16:creationId xmlns:a16="http://schemas.microsoft.com/office/drawing/2014/main" id="{B01ADB46-5FA3-2FAB-78C7-B6AD0016C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3857" y="685800"/>
            <a:ext cx="56388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b="1">
                <a:solidFill>
                  <a:srgbClr val="FF0000"/>
                </a:solidFill>
              </a:rPr>
              <a:t>Presentation Outline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77AD71E-EEA3-DACD-63E8-FCCC91FA1B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17411" name="Slide Number Placeholder 2">
            <a:extLst>
              <a:ext uri="{FF2B5EF4-FFF2-40B4-BE49-F238E27FC236}">
                <a16:creationId xmlns:a16="http://schemas.microsoft.com/office/drawing/2014/main" id="{C298C718-46F9-6A6F-E909-C26AA31497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A4085348-1BD3-4791-91B1-CED58CEFCDCF}" type="slidenum">
              <a:rPr lang="en-US" altLang="en-US">
                <a:solidFill>
                  <a:srgbClr val="898989"/>
                </a:solidFill>
              </a:rPr>
              <a:pPr/>
              <a:t>4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7412" name="TextBox 3">
            <a:extLst>
              <a:ext uri="{FF2B5EF4-FFF2-40B4-BE49-F238E27FC236}">
                <a16:creationId xmlns:a16="http://schemas.microsoft.com/office/drawing/2014/main" id="{A6568371-E910-FF4D-BD26-8E402B112C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8028" y="2162629"/>
            <a:ext cx="9220200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3200">
                <a:latin typeface="Calibri"/>
                <a:ea typeface="Calibri"/>
                <a:cs typeface="Calibri"/>
              </a:rPr>
              <a:t>House price estimation is often difficult because it depends on multiple factors such as location, area, bedrooms, and property condition. </a:t>
            </a:r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3200">
                <a:latin typeface="Calibri"/>
                <a:ea typeface="Calibri"/>
                <a:cs typeface="Calibri"/>
              </a:rPr>
              <a:t>This project uses Machine Learning algorithms to predict house prices accurately based on these features.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17413" name="TextBox 4">
            <a:extLst>
              <a:ext uri="{FF2B5EF4-FFF2-40B4-BE49-F238E27FC236}">
                <a16:creationId xmlns:a16="http://schemas.microsoft.com/office/drawing/2014/main" id="{959B4483-847F-58B1-A5F8-1D903A7928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066800"/>
            <a:ext cx="9144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600" b="1">
                <a:solidFill>
                  <a:srgbClr val="FF0000"/>
                </a:solidFill>
              </a:rPr>
              <a:t>Problem Statement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D6D014B-C99C-EAC7-7869-776E9B65E7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18435" name="Slide Number Placeholder 2">
            <a:extLst>
              <a:ext uri="{FF2B5EF4-FFF2-40B4-BE49-F238E27FC236}">
                <a16:creationId xmlns:a16="http://schemas.microsoft.com/office/drawing/2014/main" id="{3CED93C5-2B61-0103-418F-8224D7E86C4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3545A4AE-F698-4C4B-BEB6-09C210F32FE3}" type="slidenum">
              <a:rPr lang="en-US" altLang="en-US">
                <a:solidFill>
                  <a:srgbClr val="898989"/>
                </a:solidFill>
              </a:rPr>
              <a:pPr/>
              <a:t>5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8436" name="TextBox 3">
            <a:extLst>
              <a:ext uri="{FF2B5EF4-FFF2-40B4-BE49-F238E27FC236}">
                <a16:creationId xmlns:a16="http://schemas.microsoft.com/office/drawing/2014/main" id="{87DCBBF9-CF34-BFE4-F737-A70180841E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839686"/>
            <a:ext cx="10059125" cy="50167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200" b="1"/>
              <a:t>Objectives</a:t>
            </a:r>
            <a:endParaRPr lang="en-US" altLang="en-US" sz="3200"/>
          </a:p>
          <a:p>
            <a:r>
              <a:rPr lang="en-US" sz="2400">
                <a:latin typeface="Calibri"/>
                <a:ea typeface="Calibri"/>
                <a:cs typeface="Calibri"/>
              </a:rPr>
              <a:t>Develop a Machine Learning model to predict house prices accurately. 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latin typeface="Calibri"/>
                <a:ea typeface="Calibri"/>
                <a:cs typeface="Calibri"/>
              </a:rPr>
              <a:t>Compare the performance of </a:t>
            </a:r>
            <a:r>
              <a:rPr lang="en-US" sz="2400" b="1">
                <a:latin typeface="Calibri"/>
                <a:ea typeface="Calibri"/>
                <a:cs typeface="Calibri"/>
              </a:rPr>
              <a:t>Linear Regression, Decision Tree, and Random Forest</a:t>
            </a:r>
            <a:r>
              <a:rPr lang="en-US" sz="2400">
                <a:latin typeface="Calibri"/>
                <a:ea typeface="Calibri"/>
                <a:cs typeface="Calibri"/>
              </a:rPr>
              <a:t> algorithms. </a:t>
            </a:r>
            <a:endParaRPr lang="en-US" sz="2400">
              <a:ea typeface="Calibri"/>
              <a:cs typeface="Calibri"/>
            </a:endParaRPr>
          </a:p>
          <a:p>
            <a:r>
              <a:rPr lang="en-US" sz="2400">
                <a:latin typeface="Calibri"/>
                <a:ea typeface="Calibri"/>
                <a:cs typeface="Calibri"/>
              </a:rPr>
              <a:t>Identify the factors that have the greatest impact on house prices.</a:t>
            </a:r>
            <a:endParaRPr lang="en-US" sz="240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altLang="en-US" sz="3200" b="1"/>
              <a:t>Significance</a:t>
            </a:r>
          </a:p>
          <a:p>
            <a:r>
              <a:rPr lang="en-US" sz="2400">
                <a:latin typeface="Calibri"/>
                <a:ea typeface="Calibri"/>
                <a:cs typeface="Calibri"/>
              </a:rPr>
              <a:t>Provides accurate and reliable house price predictions. </a:t>
            </a:r>
          </a:p>
          <a:p>
            <a:r>
              <a:rPr lang="en-US" sz="2400">
                <a:latin typeface="Calibri"/>
                <a:ea typeface="Calibri"/>
                <a:cs typeface="Calibri"/>
              </a:rPr>
              <a:t>Helps buyers, sellers, and real estate agents make informed decisions. </a:t>
            </a:r>
          </a:p>
          <a:p>
            <a:r>
              <a:rPr lang="en-US" sz="2400">
                <a:latin typeface="Calibri"/>
                <a:ea typeface="Calibri"/>
                <a:cs typeface="Calibri"/>
              </a:rPr>
              <a:t>Reduces manual effort and improves the efficiency of property price estimation</a:t>
            </a:r>
            <a:r>
              <a:rPr lang="en-US" sz="3200">
                <a:latin typeface="Calibri"/>
                <a:ea typeface="Calibri"/>
                <a:cs typeface="Calibri"/>
              </a:rPr>
              <a:t>.</a:t>
            </a:r>
            <a:endParaRPr lang="en-US">
              <a:latin typeface="Calibri"/>
              <a:ea typeface="Calibri"/>
              <a:cs typeface="Calibri"/>
            </a:endParaRPr>
          </a:p>
          <a:p>
            <a:endParaRPr lang="en-US" altLang="en-US" sz="3200" b="1" dirty="0">
              <a:ea typeface="Calibri"/>
              <a:cs typeface="Calibri"/>
            </a:endParaRPr>
          </a:p>
        </p:txBody>
      </p:sp>
      <p:sp>
        <p:nvSpPr>
          <p:cNvPr id="18437" name="TextBox 4">
            <a:extLst>
              <a:ext uri="{FF2B5EF4-FFF2-40B4-BE49-F238E27FC236}">
                <a16:creationId xmlns:a16="http://schemas.microsoft.com/office/drawing/2014/main" id="{BC5535AE-1A8D-0295-47F5-8F39B2234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066800"/>
            <a:ext cx="99060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600" b="1">
                <a:solidFill>
                  <a:srgbClr val="FF0000"/>
                </a:solidFill>
              </a:rPr>
              <a:t>Project Objective &amp; Significance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4C5B5DF-5799-9CB1-F7D4-A1498C63A2B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19459" name="Slide Number Placeholder 2">
            <a:extLst>
              <a:ext uri="{FF2B5EF4-FFF2-40B4-BE49-F238E27FC236}">
                <a16:creationId xmlns:a16="http://schemas.microsoft.com/office/drawing/2014/main" id="{93CC81D3-88E3-58F5-69EC-2C09F759BBD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4B324B17-4060-4FAC-BE11-9FE4BA4C877E}" type="slidenum">
              <a:rPr lang="en-US" altLang="en-US">
                <a:solidFill>
                  <a:srgbClr val="898989"/>
                </a:solidFill>
              </a:rPr>
              <a:pPr/>
              <a:t>6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19460" name="TextBox 3">
            <a:extLst>
              <a:ext uri="{FF2B5EF4-FFF2-40B4-BE49-F238E27FC236}">
                <a16:creationId xmlns:a16="http://schemas.microsoft.com/office/drawing/2014/main" id="{5FBBB612-1B84-8F6C-12D3-AECD9E8A9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600200"/>
            <a:ext cx="1013460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 b="1" dirty="0">
                <a:latin typeface="Calibri"/>
                <a:ea typeface="Calibri"/>
                <a:cs typeface="Calibri"/>
              </a:rPr>
              <a:t>Dataset Used:</a:t>
            </a:r>
            <a:r>
              <a:rPr lang="en-US" altLang="en-US" sz="2400" dirty="0">
                <a:latin typeface="Calibri"/>
                <a:ea typeface="Calibri"/>
                <a:cs typeface="Calibri"/>
              </a:rPr>
              <a:t> </a:t>
            </a:r>
            <a:r>
              <a:rPr lang="en-US" sz="2400" dirty="0">
                <a:latin typeface="Calibri"/>
                <a:ea typeface="Calibri"/>
                <a:cs typeface="Calibri"/>
              </a:rPr>
              <a:t>House Price Prediction </a:t>
            </a:r>
            <a:r>
              <a:rPr lang="en-US" sz="2400">
                <a:latin typeface="Calibri"/>
                <a:ea typeface="Calibri"/>
                <a:cs typeface="Calibri"/>
              </a:rPr>
              <a:t>Dataset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altLang="en-US" sz="2400" b="1" dirty="0">
                <a:latin typeface="Calibri"/>
                <a:ea typeface="Calibri"/>
                <a:cs typeface="Calibri"/>
              </a:rPr>
              <a:t>Records:</a:t>
            </a:r>
            <a:r>
              <a:rPr lang="en-US" altLang="en-US" sz="2400">
                <a:latin typeface="Calibri"/>
                <a:ea typeface="Calibri"/>
                <a:cs typeface="Calibri"/>
              </a:rPr>
              <a:t> 2000</a:t>
            </a:r>
            <a:endParaRPr lang="en-US" dirty="0">
              <a:latin typeface="Calibri"/>
              <a:ea typeface="Calibri"/>
              <a:cs typeface="Calibri"/>
            </a:endParaRPr>
          </a:p>
          <a:p>
            <a:r>
              <a:rPr lang="en-US" altLang="en-US" sz="2400" b="1"/>
              <a:t>Features:</a:t>
            </a:r>
            <a:endParaRPr lang="en-US" altLang="en-US" sz="2400"/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Area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Bedrooms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Bathrooms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Floors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Year Built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Location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Condition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Garage</a:t>
            </a:r>
            <a:endParaRPr lang="en-US"/>
          </a:p>
          <a:p>
            <a:r>
              <a:rPr lang="en-US" altLang="en-US" sz="2400" b="1"/>
              <a:t>Target Variable</a:t>
            </a:r>
            <a:endParaRPr lang="en-US" altLang="en-US" sz="2400"/>
          </a:p>
          <a:p>
            <a:r>
              <a:rPr lang="en-US" altLang="en-US" sz="2400"/>
              <a:t>Price</a:t>
            </a:r>
          </a:p>
        </p:txBody>
      </p:sp>
      <p:sp>
        <p:nvSpPr>
          <p:cNvPr id="19461" name="TextBox 4">
            <a:extLst>
              <a:ext uri="{FF2B5EF4-FFF2-40B4-BE49-F238E27FC236}">
                <a16:creationId xmlns:a16="http://schemas.microsoft.com/office/drawing/2014/main" id="{0A1E228D-95E9-BD3A-49A8-20D5D46C58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990600"/>
            <a:ext cx="9601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200" b="1">
                <a:solidFill>
                  <a:srgbClr val="FF0000"/>
                </a:solidFill>
              </a:rPr>
              <a:t>Dataset Description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D21EB7-FC8C-0E7E-57C3-1055E748CE7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21507" name="Slide Number Placeholder 2">
            <a:extLst>
              <a:ext uri="{FF2B5EF4-FFF2-40B4-BE49-F238E27FC236}">
                <a16:creationId xmlns:a16="http://schemas.microsoft.com/office/drawing/2014/main" id="{37CCAB17-A21A-341A-B626-E25F12CE947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E0FA5DD-B2DA-4E28-9985-9B697D602DB2}" type="slidenum">
              <a:rPr lang="en-US" altLang="en-US">
                <a:solidFill>
                  <a:srgbClr val="898989"/>
                </a:solidFill>
              </a:rPr>
              <a:pPr/>
              <a:t>7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1508" name="TextBox 3">
            <a:extLst>
              <a:ext uri="{FF2B5EF4-FFF2-40B4-BE49-F238E27FC236}">
                <a16:creationId xmlns:a16="http://schemas.microsoft.com/office/drawing/2014/main" id="{BC765E81-C1FF-771E-1222-D20FDD9840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780143"/>
            <a:ext cx="9525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b="1">
                <a:solidFill>
                  <a:srgbClr val="FF0000"/>
                </a:solidFill>
              </a:rPr>
              <a:t>Methodology &amp; Implementation</a:t>
            </a:r>
          </a:p>
        </p:txBody>
      </p:sp>
      <p:sp>
        <p:nvSpPr>
          <p:cNvPr id="21509" name="TextBox 4">
            <a:extLst>
              <a:ext uri="{FF2B5EF4-FFF2-40B4-BE49-F238E27FC236}">
                <a16:creationId xmlns:a16="http://schemas.microsoft.com/office/drawing/2014/main" id="{29F3031D-DF6B-3A32-8DAA-796E09D87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7428" y="1302657"/>
            <a:ext cx="8229600" cy="47089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2000">
                <a:latin typeface="Calibri"/>
                <a:ea typeface="Calibri"/>
                <a:cs typeface="Calibri"/>
              </a:rPr>
              <a:t>Dataset Collection</a:t>
            </a:r>
            <a:br>
              <a:rPr lang="en-US" sz="2000" dirty="0">
                <a:ea typeface="Calibri"/>
                <a:cs typeface="Calibri"/>
              </a:rPr>
            </a:br>
            <a:r>
              <a:rPr lang="en-US" sz="2000">
                <a:latin typeface="Calibri"/>
                <a:ea typeface="Calibri"/>
                <a:cs typeface="Calibri"/>
              </a:rPr>
              <a:t> ↓</a:t>
            </a:r>
            <a:br>
              <a:rPr lang="en-US" sz="2000" dirty="0">
                <a:ea typeface="Calibri"/>
                <a:cs typeface="Calibri"/>
              </a:rPr>
            </a:br>
            <a:r>
              <a:rPr lang="en-US" sz="2000">
                <a:latin typeface="Calibri"/>
                <a:ea typeface="Calibri"/>
                <a:cs typeface="Calibri"/>
              </a:rPr>
              <a:t> Data Preprocessing</a:t>
            </a:r>
            <a:br>
              <a:rPr lang="en-US" sz="2000" dirty="0">
                <a:ea typeface="Calibri"/>
                <a:cs typeface="Calibri"/>
              </a:rPr>
            </a:br>
            <a:r>
              <a:rPr lang="en-US" sz="2000">
                <a:latin typeface="Calibri"/>
                <a:ea typeface="Calibri"/>
                <a:cs typeface="Calibri"/>
              </a:rPr>
              <a:t> ↓</a:t>
            </a:r>
            <a:br>
              <a:rPr lang="en-US" sz="2000" dirty="0">
                <a:ea typeface="Calibri"/>
                <a:cs typeface="Calibri"/>
              </a:rPr>
            </a:br>
            <a:r>
              <a:rPr lang="en-US" sz="2000">
                <a:latin typeface="Calibri"/>
                <a:ea typeface="Calibri"/>
                <a:cs typeface="Calibri"/>
              </a:rPr>
              <a:t> Exploratory Data Analysis</a:t>
            </a:r>
            <a:br>
              <a:rPr lang="en-US" sz="2000" dirty="0">
                <a:ea typeface="Calibri"/>
                <a:cs typeface="Calibri"/>
              </a:rPr>
            </a:br>
            <a:r>
              <a:rPr lang="en-US" sz="2000">
                <a:latin typeface="Calibri"/>
                <a:ea typeface="Calibri"/>
                <a:cs typeface="Calibri"/>
              </a:rPr>
              <a:t> ↓</a:t>
            </a:r>
            <a:br>
              <a:rPr lang="en-US" sz="2000" dirty="0">
                <a:ea typeface="Calibri"/>
                <a:cs typeface="Calibri"/>
              </a:rPr>
            </a:br>
            <a:r>
              <a:rPr lang="en-US" sz="2000">
                <a:latin typeface="Calibri"/>
                <a:ea typeface="Calibri"/>
                <a:cs typeface="Calibri"/>
              </a:rPr>
              <a:t> Feature Selection</a:t>
            </a:r>
            <a:br>
              <a:rPr lang="en-US" sz="2000" dirty="0">
                <a:ea typeface="Calibri"/>
                <a:cs typeface="Calibri"/>
              </a:rPr>
            </a:br>
            <a:r>
              <a:rPr lang="en-US" sz="2000">
                <a:latin typeface="Calibri"/>
                <a:ea typeface="Calibri"/>
                <a:cs typeface="Calibri"/>
              </a:rPr>
              <a:t> ↓</a:t>
            </a:r>
            <a:br>
              <a:rPr lang="en-US" sz="2000" dirty="0">
                <a:ea typeface="Calibri"/>
                <a:cs typeface="Calibri"/>
              </a:rPr>
            </a:br>
            <a:r>
              <a:rPr lang="en-US" sz="2000">
                <a:latin typeface="Calibri"/>
                <a:ea typeface="Calibri"/>
                <a:cs typeface="Calibri"/>
              </a:rPr>
              <a:t> Train-Test Split</a:t>
            </a:r>
            <a:br>
              <a:rPr lang="en-US" sz="2000" dirty="0">
                <a:ea typeface="Calibri"/>
                <a:cs typeface="Calibri"/>
              </a:rPr>
            </a:br>
            <a:r>
              <a:rPr lang="en-US" sz="2000">
                <a:latin typeface="Calibri"/>
                <a:ea typeface="Calibri"/>
                <a:cs typeface="Calibri"/>
              </a:rPr>
              <a:t> ↓</a:t>
            </a:r>
            <a:br>
              <a:rPr lang="en-US" sz="2000" dirty="0">
                <a:ea typeface="Calibri"/>
                <a:cs typeface="Calibri"/>
              </a:rPr>
            </a:br>
            <a:r>
              <a:rPr lang="en-US" sz="2000">
                <a:latin typeface="Calibri"/>
                <a:ea typeface="Calibri"/>
                <a:cs typeface="Calibri"/>
              </a:rPr>
              <a:t> Model Training</a:t>
            </a:r>
            <a:br>
              <a:rPr lang="en-US" sz="2000" dirty="0">
                <a:ea typeface="Calibri"/>
                <a:cs typeface="Calibri"/>
              </a:rPr>
            </a:br>
            <a:r>
              <a:rPr lang="en-US" sz="2000">
                <a:latin typeface="Calibri"/>
                <a:ea typeface="Calibri"/>
                <a:cs typeface="Calibri"/>
              </a:rPr>
              <a:t> ↓</a:t>
            </a:r>
            <a:br>
              <a:rPr lang="en-US" sz="2000" dirty="0">
                <a:ea typeface="Calibri"/>
                <a:cs typeface="Calibri"/>
              </a:rPr>
            </a:br>
            <a:r>
              <a:rPr lang="en-US" sz="2000">
                <a:latin typeface="Calibri"/>
                <a:ea typeface="Calibri"/>
                <a:cs typeface="Calibri"/>
              </a:rPr>
              <a:t> Model Evaluation</a:t>
            </a:r>
            <a:br>
              <a:rPr lang="en-US" sz="2000" dirty="0">
                <a:ea typeface="Calibri"/>
                <a:cs typeface="Calibri"/>
              </a:rPr>
            </a:br>
            <a:r>
              <a:rPr lang="en-US" sz="2000">
                <a:latin typeface="Calibri"/>
                <a:ea typeface="Calibri"/>
                <a:cs typeface="Calibri"/>
              </a:rPr>
              <a:t> ↓</a:t>
            </a:r>
            <a:br>
              <a:rPr lang="en-US" sz="2000" dirty="0">
                <a:ea typeface="Calibri"/>
                <a:cs typeface="Calibri"/>
              </a:rPr>
            </a:br>
            <a:r>
              <a:rPr lang="en-US" sz="2000">
                <a:latin typeface="Calibri"/>
                <a:ea typeface="Calibri"/>
                <a:cs typeface="Calibri"/>
              </a:rPr>
              <a:t> House Price Prediction</a:t>
            </a:r>
            <a:endParaRPr lang="en-US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939B6B-F37B-0DDC-2F5C-788AF03B5DA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20483" name="Slide Number Placeholder 2">
            <a:extLst>
              <a:ext uri="{FF2B5EF4-FFF2-40B4-BE49-F238E27FC236}">
                <a16:creationId xmlns:a16="http://schemas.microsoft.com/office/drawing/2014/main" id="{AB34696F-DFD2-2AA8-F704-A7F2FE040C8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9A0CA4D5-0C8D-408B-87B7-D5628DAF89F6}" type="slidenum">
              <a:rPr lang="en-US" altLang="en-US">
                <a:solidFill>
                  <a:srgbClr val="898989"/>
                </a:solidFill>
              </a:rPr>
              <a:pPr/>
              <a:t>8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0484" name="TextBox 3">
            <a:extLst>
              <a:ext uri="{FF2B5EF4-FFF2-40B4-BE49-F238E27FC236}">
                <a16:creationId xmlns:a16="http://schemas.microsoft.com/office/drawing/2014/main" id="{DFDCF18B-5549-637A-FE6A-62DD0BD7B5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571" y="1240971"/>
            <a:ext cx="944880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sz="2400" b="1">
                <a:latin typeface="Calibri"/>
                <a:ea typeface="Calibri"/>
                <a:cs typeface="Calibri"/>
              </a:rPr>
              <a:t>Steps performed</a:t>
            </a:r>
            <a:r>
              <a:rPr lang="en-US" sz="2400" dirty="0">
                <a:latin typeface="Calibri"/>
                <a:ea typeface="Calibri"/>
                <a:cs typeface="Calibri"/>
              </a:rPr>
              <a:t> </a:t>
            </a:r>
            <a:endParaRPr lang="en-US" sz="2400" b="1" dirty="0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>
                <a:latin typeface="Calibri"/>
                <a:ea typeface="Calibri"/>
                <a:cs typeface="Calibri"/>
              </a:rPr>
              <a:t>Loaded the dataset using </a:t>
            </a:r>
            <a:r>
              <a:rPr lang="en-US" sz="2400" b="1" dirty="0">
                <a:latin typeface="Calibri"/>
                <a:ea typeface="Calibri"/>
                <a:cs typeface="Calibri"/>
              </a:rPr>
              <a:t>Pandas</a:t>
            </a:r>
            <a:r>
              <a:rPr lang="en-US" sz="2400" dirty="0">
                <a:latin typeface="Calibri"/>
                <a:ea typeface="Calibri"/>
                <a:cs typeface="Calibri"/>
              </a:rPr>
              <a:t>. </a:t>
            </a:r>
            <a:endParaRPr lang="en-US">
              <a:latin typeface="Calibri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>
                <a:latin typeface="Calibri"/>
                <a:ea typeface="Calibri"/>
                <a:cs typeface="Calibri"/>
              </a:rPr>
              <a:t>Checked dataset information and summary statistics. 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sz="2400">
                <a:latin typeface="Calibri"/>
                <a:ea typeface="Calibri"/>
                <a:cs typeface="Calibri"/>
              </a:rPr>
              <a:t>Verified missing values and data quality. </a:t>
            </a:r>
            <a:endParaRPr lang="en-US">
              <a:latin typeface="Calibri"/>
              <a:ea typeface="Calibri"/>
              <a:cs typeface="Calibri"/>
            </a:endParaRPr>
          </a:p>
          <a:p>
            <a:r>
              <a:rPr lang="en-US" sz="2400">
                <a:ea typeface="Calibri"/>
                <a:cs typeface="Calibri"/>
              </a:rPr>
              <a:t>Encoded categorical features using </a:t>
            </a:r>
            <a:r>
              <a:rPr lang="en-US" sz="2400" b="1">
                <a:ea typeface="Calibri"/>
                <a:cs typeface="Calibri"/>
              </a:rPr>
              <a:t>Label Encoder</a:t>
            </a:r>
            <a:r>
              <a:rPr lang="en-US" sz="2400">
                <a:ea typeface="Calibri"/>
                <a:cs typeface="Calibri"/>
              </a:rPr>
              <a:t>. </a:t>
            </a:r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>
                <a:ea typeface="Calibri"/>
                <a:cs typeface="Calibri"/>
              </a:rPr>
              <a:t>Split the dataset into </a:t>
            </a:r>
            <a:r>
              <a:rPr lang="en-US" sz="2400" b="1">
                <a:ea typeface="Calibri"/>
                <a:cs typeface="Calibri"/>
              </a:rPr>
              <a:t>80% training</a:t>
            </a:r>
            <a:r>
              <a:rPr lang="en-US" sz="2400">
                <a:ea typeface="Calibri"/>
                <a:cs typeface="Calibri"/>
              </a:rPr>
              <a:t> and </a:t>
            </a:r>
            <a:r>
              <a:rPr lang="en-US" sz="2400" b="1">
                <a:ea typeface="Calibri"/>
                <a:cs typeface="Calibri"/>
              </a:rPr>
              <a:t>20% testing</a:t>
            </a:r>
            <a:r>
              <a:rPr lang="en-US" sz="2400">
                <a:ea typeface="Calibri"/>
                <a:cs typeface="Calibri"/>
              </a:rPr>
              <a:t> data.</a:t>
            </a:r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 sz="2400" b="1" dirty="0">
              <a:ea typeface="Calibri"/>
              <a:cs typeface="Calibri"/>
            </a:endParaRPr>
          </a:p>
        </p:txBody>
      </p:sp>
      <p:sp>
        <p:nvSpPr>
          <p:cNvPr id="20485" name="TextBox 4">
            <a:extLst>
              <a:ext uri="{FF2B5EF4-FFF2-40B4-BE49-F238E27FC236}">
                <a16:creationId xmlns:a16="http://schemas.microsoft.com/office/drawing/2014/main" id="{98607602-2C15-2F52-CD27-B0E56B4485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943" y="714828"/>
            <a:ext cx="8763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b="1">
                <a:solidFill>
                  <a:srgbClr val="FF0000"/>
                </a:solidFill>
              </a:rPr>
              <a:t>Data Preprocessing</a:t>
            </a:r>
          </a:p>
        </p:txBody>
      </p:sp>
      <p:sp>
        <p:nvSpPr>
          <p:cNvPr id="20486" name="TextBox 5">
            <a:extLst>
              <a:ext uri="{FF2B5EF4-FFF2-40B4-BE49-F238E27FC236}">
                <a16:creationId xmlns:a16="http://schemas.microsoft.com/office/drawing/2014/main" id="{66AD141D-CB14-FE1E-B20A-82321FB8A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0943" y="4056743"/>
            <a:ext cx="8991600" cy="2677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 b="1"/>
              <a:t>Visualizations</a:t>
            </a:r>
            <a:endParaRPr lang="en-US" altLang="en-US" sz="2400"/>
          </a:p>
          <a:p>
            <a:r>
              <a:rPr lang="en-US" sz="2400">
                <a:ea typeface="Calibri"/>
                <a:cs typeface="Calibri"/>
              </a:rPr>
              <a:t>House Price Distribution Histogram </a:t>
            </a:r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>
                <a:ea typeface="Calibri"/>
                <a:cs typeface="Calibri"/>
              </a:rPr>
              <a:t>Correlation Heatmap </a:t>
            </a:r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>
                <a:ea typeface="Calibri"/>
                <a:cs typeface="Calibri"/>
              </a:rPr>
              <a:t>Area vs Price Scatter Plot </a:t>
            </a:r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>
                <a:ea typeface="Calibri"/>
                <a:cs typeface="Calibri"/>
              </a:rPr>
              <a:t>Model Performance Comparison (Bar Chart) </a:t>
            </a:r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400">
                <a:ea typeface="Calibri"/>
                <a:cs typeface="Calibri"/>
              </a:rPr>
              <a:t>Actual vs Predicted Price Scatter Plot</a:t>
            </a:r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altLang="en-US" sz="2400" dirty="0">
              <a:ea typeface="Calibri"/>
              <a:cs typeface="Calibri"/>
            </a:endParaRPr>
          </a:p>
        </p:txBody>
      </p:sp>
      <p:sp>
        <p:nvSpPr>
          <p:cNvPr id="20487" name="TextBox 6">
            <a:extLst>
              <a:ext uri="{FF2B5EF4-FFF2-40B4-BE49-F238E27FC236}">
                <a16:creationId xmlns:a16="http://schemas.microsoft.com/office/drawing/2014/main" id="{DDADDC17-4C8B-3DDA-9313-0B17C92C5B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571" y="3530600"/>
            <a:ext cx="89916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b="1">
                <a:solidFill>
                  <a:srgbClr val="FF0000"/>
                </a:solidFill>
              </a:rPr>
              <a:t>Exploratory Data Analysis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59A5BA0-FBB3-1730-BEA8-25EEC19130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22531" name="Slide Number Placeholder 2">
            <a:extLst>
              <a:ext uri="{FF2B5EF4-FFF2-40B4-BE49-F238E27FC236}">
                <a16:creationId xmlns:a16="http://schemas.microsoft.com/office/drawing/2014/main" id="{57D0969E-D2E7-F58D-1BAB-65377527E5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F0B977BF-61C4-4982-BD58-2F461820201C}" type="slidenum">
              <a:rPr lang="en-US" altLang="en-US">
                <a:solidFill>
                  <a:srgbClr val="898989"/>
                </a:solidFill>
              </a:rPr>
              <a:pPr/>
              <a:t>9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2532" name="TextBox 3">
            <a:extLst>
              <a:ext uri="{FF2B5EF4-FFF2-40B4-BE49-F238E27FC236}">
                <a16:creationId xmlns:a16="http://schemas.microsoft.com/office/drawing/2014/main" id="{2E58CAD8-8920-5BEF-651E-07F016E7E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1219200"/>
            <a:ext cx="9448800" cy="3754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000" b="1"/>
              <a:t>Algorithm Used</a:t>
            </a:r>
            <a:endParaRPr lang="en-US" altLang="en-US" sz="2000"/>
          </a:p>
          <a:p>
            <a:r>
              <a:rPr lang="en-US" altLang="en-US" sz="2000" dirty="0">
                <a:latin typeface="Calibri"/>
                <a:ea typeface="Calibri"/>
                <a:cs typeface="Calibri"/>
              </a:rPr>
              <a:t>Linear Regression , Decision tree Regression and Random </a:t>
            </a:r>
            <a:r>
              <a:rPr lang="en-US" altLang="en-US" sz="2000">
                <a:latin typeface="Calibri"/>
                <a:ea typeface="Calibri"/>
                <a:cs typeface="Calibri"/>
              </a:rPr>
              <a:t>forest regression</a:t>
            </a:r>
            <a:endParaRPr lang="en-US" altLang="en-US" sz="2000" dirty="0">
              <a:ea typeface="Calibri"/>
              <a:cs typeface="Calibri"/>
            </a:endParaRPr>
          </a:p>
          <a:p>
            <a:r>
              <a:rPr lang="en-US" altLang="en-US" sz="2000" b="1"/>
              <a:t>Training Data</a:t>
            </a:r>
            <a:endParaRPr lang="en-US" altLang="en-US" sz="2000"/>
          </a:p>
          <a:p>
            <a:r>
              <a:rPr lang="en-US" altLang="en-US" sz="2000"/>
              <a:t>80% </a:t>
            </a:r>
          </a:p>
          <a:p>
            <a:r>
              <a:rPr lang="en-US" altLang="en-US" sz="2000" b="1"/>
              <a:t>Testing Data</a:t>
            </a:r>
            <a:endParaRPr lang="en-US" altLang="en-US" sz="2000"/>
          </a:p>
          <a:p>
            <a:r>
              <a:rPr lang="en-US" altLang="en-US" sz="2000"/>
              <a:t>20% </a:t>
            </a:r>
          </a:p>
          <a:p>
            <a:r>
              <a:rPr lang="en-US" altLang="en-US" sz="2000" b="1"/>
              <a:t>Results</a:t>
            </a:r>
            <a:endParaRPr lang="en-US" altLang="en-US" sz="2000"/>
          </a:p>
          <a:p>
            <a:r>
              <a:rPr lang="en-US" sz="2000">
                <a:latin typeface="Calibri"/>
                <a:ea typeface="Calibri"/>
                <a:cs typeface="Calibri"/>
              </a:rPr>
              <a:t>MAE = 253932.662325 </a:t>
            </a:r>
            <a:endParaRPr lang="en-US"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>
                <a:latin typeface="Calibri"/>
                <a:ea typeface="Calibri"/>
                <a:cs typeface="Calibri"/>
              </a:rPr>
              <a:t>MSE = 86157199403.32457 </a:t>
            </a:r>
            <a:endParaRPr lang="en-US" dirty="0">
              <a:ea typeface="Calibri"/>
              <a:cs typeface="Calibri"/>
            </a:endParaRPr>
          </a:p>
          <a:p>
            <a:r>
              <a:rPr lang="en-US" sz="2000">
                <a:latin typeface="Calibri"/>
                <a:ea typeface="Calibri"/>
                <a:cs typeface="Calibri"/>
              </a:rPr>
              <a:t>RMSE = 293525.4663625025</a:t>
            </a:r>
            <a:r>
              <a:rPr lang="en-US" altLang="en-US" sz="2000" dirty="0">
                <a:latin typeface="Calibri"/>
                <a:ea typeface="Calibri"/>
                <a:cs typeface="Calibri"/>
              </a:rPr>
              <a:t> </a:t>
            </a:r>
            <a:endParaRPr lang="en-US">
              <a:ea typeface="Calibri"/>
              <a:cs typeface="Calibri"/>
            </a:endParaRPr>
          </a:p>
          <a:p>
            <a:r>
              <a:rPr lang="en-US" altLang="en-US" sz="2000">
                <a:latin typeface="Calibri"/>
                <a:ea typeface="Calibri"/>
                <a:cs typeface="Calibri"/>
              </a:rPr>
              <a:t>Predicted House Price = </a:t>
            </a:r>
            <a:r>
              <a:rPr lang="en-US" sz="2000" b="1">
                <a:latin typeface="Calibri"/>
                <a:ea typeface="Calibri"/>
                <a:cs typeface="Calibri"/>
              </a:rPr>
              <a:t>290150.82</a:t>
            </a:r>
          </a:p>
          <a:p>
            <a:endParaRPr lang="en-US" altLang="en-US"/>
          </a:p>
        </p:txBody>
      </p:sp>
      <p:sp>
        <p:nvSpPr>
          <p:cNvPr id="22533" name="TextBox 4">
            <a:extLst>
              <a:ext uri="{FF2B5EF4-FFF2-40B4-BE49-F238E27FC236}">
                <a16:creationId xmlns:a16="http://schemas.microsoft.com/office/drawing/2014/main" id="{DD02CBC5-556C-F815-9ECC-DA11C3E733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6800" y="4666343"/>
            <a:ext cx="9829800" cy="16927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 b="1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Applications</a:t>
            </a:r>
          </a:p>
          <a:p>
            <a:r>
              <a:rPr lang="en-US" altLang="en-US" sz="2000"/>
              <a:t>Real Estate Agencies </a:t>
            </a:r>
          </a:p>
          <a:p>
            <a:r>
              <a:rPr lang="en-US" altLang="en-US" sz="2000"/>
              <a:t>Property Buyers </a:t>
            </a:r>
          </a:p>
          <a:p>
            <a:r>
              <a:rPr lang="en-US" altLang="en-US" sz="2000"/>
              <a:t>Property Sellers </a:t>
            </a:r>
          </a:p>
          <a:p>
            <a:endParaRPr lang="en-US" altLang="en-US" sz="2000" dirty="0">
              <a:latin typeface="Calibri"/>
              <a:ea typeface="Calibri"/>
              <a:cs typeface="Calibri"/>
            </a:endParaRPr>
          </a:p>
        </p:txBody>
      </p:sp>
      <p:sp>
        <p:nvSpPr>
          <p:cNvPr id="22534" name="TextBox 5">
            <a:extLst>
              <a:ext uri="{FF2B5EF4-FFF2-40B4-BE49-F238E27FC236}">
                <a16:creationId xmlns:a16="http://schemas.microsoft.com/office/drawing/2014/main" id="{48D1C46C-007B-AB06-5A31-FA831D202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000" y="762000"/>
            <a:ext cx="8534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400" b="1">
                <a:solidFill>
                  <a:srgbClr val="FF0000"/>
                </a:solidFill>
              </a:rPr>
              <a:t>Model Training &amp; Results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A0F4395-A151-C91E-0BA6-C7399DDA93F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Cryptography and Network Security                                                     Dr A Vikram, Assistant Professor, DS</a:t>
            </a:r>
            <a:endParaRPr lang="en-US" dirty="0"/>
          </a:p>
        </p:txBody>
      </p:sp>
      <p:sp>
        <p:nvSpPr>
          <p:cNvPr id="23555" name="Slide Number Placeholder 2">
            <a:extLst>
              <a:ext uri="{FF2B5EF4-FFF2-40B4-BE49-F238E27FC236}">
                <a16:creationId xmlns:a16="http://schemas.microsoft.com/office/drawing/2014/main" id="{5403576A-0852-8FF8-4184-E8102A130B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2570E46C-7041-4E90-882D-E49CDC97E5C6}" type="slidenum">
              <a:rPr lang="en-US" altLang="en-US">
                <a:solidFill>
                  <a:srgbClr val="898989"/>
                </a:solidFill>
              </a:rPr>
              <a:pPr/>
              <a:t>10</a:t>
            </a:fld>
            <a:endParaRPr lang="en-US" altLang="en-US">
              <a:solidFill>
                <a:srgbClr val="898989"/>
              </a:solidFill>
            </a:endParaRPr>
          </a:p>
        </p:txBody>
      </p:sp>
      <p:sp>
        <p:nvSpPr>
          <p:cNvPr id="23556" name="TextBox 3">
            <a:extLst>
              <a:ext uri="{FF2B5EF4-FFF2-40B4-BE49-F238E27FC236}">
                <a16:creationId xmlns:a16="http://schemas.microsoft.com/office/drawing/2014/main" id="{C7D8D6E7-8011-D2B9-F3C3-31401D738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901371"/>
            <a:ext cx="9372600" cy="381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2800" b="1"/>
              <a:t>Conclusion</a:t>
            </a:r>
            <a:endParaRPr lang="en-US" altLang="en-US" sz="2800"/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Successfully predicted house prices using Machine Learning. 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Compared multiple regression models. 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Achieved reliable house price estimation.</a:t>
            </a:r>
          </a:p>
          <a:p>
            <a:pPr marL="285750" indent="-285750">
              <a:buFont typeface="Arial"/>
              <a:buChar char="•"/>
            </a:pPr>
            <a:endParaRPr lang="en-US" sz="2400" dirty="0">
              <a:latin typeface="Calibri"/>
              <a:ea typeface="Calibri"/>
              <a:cs typeface="Calibri"/>
            </a:endParaRPr>
          </a:p>
          <a:p>
            <a:r>
              <a:rPr lang="en-US" altLang="en-US" sz="2800" b="1"/>
              <a:t>Future Scope</a:t>
            </a:r>
            <a:endParaRPr lang="en-US" altLang="en-US" sz="2800"/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Improve model accuracy with larger datasets. 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Use advanced Machine Learning techniques. </a:t>
            </a:r>
          </a:p>
          <a:p>
            <a:pPr marL="285750" indent="-285750">
              <a:buFont typeface="Arial"/>
              <a:buChar char="•"/>
            </a:pPr>
            <a:r>
              <a:rPr lang="en-US" sz="2400">
                <a:latin typeface="Calibri"/>
                <a:ea typeface="Calibri"/>
                <a:cs typeface="Calibri"/>
              </a:rPr>
              <a:t>Develop a real-time web application</a:t>
            </a:r>
          </a:p>
          <a:p>
            <a:endParaRPr lang="en-US" altLang="en-US" dirty="0">
              <a:ea typeface="Calibri"/>
              <a:cs typeface="Calibri"/>
            </a:endParaRPr>
          </a:p>
        </p:txBody>
      </p:sp>
      <p:sp>
        <p:nvSpPr>
          <p:cNvPr id="23557" name="TextBox 4">
            <a:extLst>
              <a:ext uri="{FF2B5EF4-FFF2-40B4-BE49-F238E27FC236}">
                <a16:creationId xmlns:a16="http://schemas.microsoft.com/office/drawing/2014/main" id="{85FD7CE3-A98E-D4A3-753F-E77D02467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1066800"/>
            <a:ext cx="7924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sz="3200" b="1">
                <a:solidFill>
                  <a:srgbClr val="FF0000"/>
                </a:solidFill>
              </a:rPr>
              <a:t>Conclusion &amp; Future Scope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1">
            <a:extLst>
              <a:ext uri="{FF2B5EF4-FFF2-40B4-BE49-F238E27FC236}">
                <a16:creationId xmlns:a16="http://schemas.microsoft.com/office/drawing/2014/main" id="{3FAD4061-18B2-0987-76EC-F336CC529A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fld id="{EB56B6DC-3F30-4FC1-9E1E-143600095FA0}" type="slidenum">
              <a:rPr lang="en-US" altLang="en-US" b="1">
                <a:solidFill>
                  <a:srgbClr val="898989"/>
                </a:solidFill>
              </a:rPr>
              <a:pPr/>
              <a:t>11</a:t>
            </a:fld>
            <a:endParaRPr lang="en-US" altLang="en-US" b="1">
              <a:solidFill>
                <a:srgbClr val="898989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917517-B5CA-A07A-582B-1D13344263CB}"/>
              </a:ext>
            </a:extLst>
          </p:cNvPr>
          <p:cNvSpPr txBox="1">
            <a:spLocks/>
          </p:cNvSpPr>
          <p:nvPr/>
        </p:nvSpPr>
        <p:spPr>
          <a:xfrm>
            <a:off x="1447800" y="2514600"/>
            <a:ext cx="9215438" cy="1363663"/>
          </a:xfrm>
          <a:prstGeom prst="rect">
            <a:avLst/>
          </a:prstGeom>
        </p:spPr>
        <p:txBody>
          <a:bodyPr anchor="ctr"/>
          <a:lstStyle/>
          <a:p>
            <a:pPr marL="514350" indent="-514350" algn="ctr" defTabSz="914400" eaLnBrk="1" fontAlgn="auto" hangingPunct="1">
              <a:lnSpc>
                <a:spcPct val="170000"/>
              </a:lnSpc>
              <a:spcAft>
                <a:spcPts val="0"/>
              </a:spcAft>
              <a:defRPr/>
            </a:pPr>
            <a:r>
              <a:rPr lang="en-US" sz="7200" b="1" spc="-50" dirty="0">
                <a:solidFill>
                  <a:srgbClr val="00B0F0"/>
                </a:solidFill>
                <a:latin typeface="Maiandra GD" panose="020E0502030308020204" pitchFamily="34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14720</TotalTime>
  <Words>417</Words>
  <Application>Microsoft Office PowerPoint</Application>
  <PresentationFormat>Widescreen</PresentationFormat>
  <Paragraphs>124</Paragraphs>
  <Slides>11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Hanu Alluri</cp:lastModifiedBy>
  <cp:revision>1228</cp:revision>
  <dcterms:created xsi:type="dcterms:W3CDTF">2019-12-14T03:50:52Z</dcterms:created>
  <dcterms:modified xsi:type="dcterms:W3CDTF">2026-06-26T07:59:01Z</dcterms:modified>
</cp:coreProperties>
</file>